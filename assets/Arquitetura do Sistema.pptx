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bebb12dd-a989-414a-9f31-15196f0bc526.fntdata" /><ns0:Relationship Id="rIdFont13" Type="http://schemas.openxmlformats.org/officeDocument/2006/relationships/font" Target="fonts/cc298437-7c82-4e88-be1a-448a766b6ed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10967"/>
            <a:ext cx="76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389882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B82F6"/>
                </a:solidFill>
                <a:latin typeface="Inter"/>
              </a:rPr>
              <a:t>VISÃO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70882"/>
            <a:ext cx="11251406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Inter"/>
              </a:rPr>
              <a:t>Arquitetura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53742"/>
            <a:ext cx="7143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Fluxo de processamento de dados.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81400" y="1209675"/>
            <a:ext cx="3619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81400" y="2371725"/>
            <a:ext cx="3619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81400" y="3533775"/>
            <a:ext cx="3619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81400" y="4676775"/>
            <a:ext cx="3619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81400" y="5819775"/>
            <a:ext cx="36195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5989" y="2371725"/>
            <a:ext cx="2716410" cy="60960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43900" y="5819775"/>
            <a:ext cx="3238500" cy="838200"/>
          </a:xfrm>
          <a:prstGeom prst="roundRect">
            <a:avLst>
              <a:gd name="adj" fmla="val 9090"/>
            </a:avLst>
          </a:prstGeom>
          <a:solidFill>
            <a:srgbClr val="F0FDF4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1895475"/>
            <a:ext cx="2286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3076575"/>
            <a:ext cx="2286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4219575"/>
            <a:ext cx="2286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5362575"/>
            <a:ext cx="2286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6124575"/>
            <a:ext cx="7620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544" y="2771775"/>
            <a:ext cx="7620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-381000" y="457200"/>
            <a:ext cx="12954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Inter"/>
              </a:rPr>
              <a:t>Fluxo de Processamento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3762" y="1381125"/>
            <a:ext cx="39147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Inter"/>
              </a:rPr>
              <a:t>Usuário (Chat Streamlit)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3762" y="2543175"/>
            <a:ext cx="39147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Inter"/>
              </a:rPr>
              <a:t>Módulo NLU (TF-IDF + 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3762" y="3705225"/>
            <a:ext cx="39147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Inter"/>
              </a:rPr>
              <a:t>Extrator Regex (Massa/Datas)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3762" y="4848225"/>
            <a:ext cx="39147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Inter"/>
              </a:rPr>
              <a:t>Persistência no SQLite3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3762" y="5991225"/>
            <a:ext cx="39147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Inter"/>
              </a:rPr>
              <a:t>Matchmaker KNN (Cálculo de Distância)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1237" y="2543175"/>
            <a:ext cx="278591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991B1B"/>
                </a:solidFill>
                <a:latin typeface="Inter"/>
              </a:rPr>
              <a:t>Resposta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7850" y="3076575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Confiança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3887" y="5991225"/>
            <a:ext cx="34385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65F46"/>
                </a:solidFill>
                <a:latin typeface="Inter"/>
              </a:rPr>
              <a:t>Notificação / Ticket de Coleta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0" y="2352675"/>
            <a:ext cx="137933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F4444"/>
                </a:solidFill>
                <a:latin typeface="Inter"/>
              </a:rPr>
              <a:t>Confiança &lt; 0.60?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1457325"/>
            <a:ext cx="5181600" cy="1162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847975"/>
            <a:ext cx="5181600" cy="1162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4238625"/>
            <a:ext cx="5181600" cy="11620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457325"/>
            <a:ext cx="38100" cy="1162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2847975"/>
            <a:ext cx="38100" cy="1162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4238625"/>
            <a:ext cx="38100" cy="11620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545109"/>
            <a:ext cx="6477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Inter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49909"/>
            <a:ext cx="554069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Processamento de Linguagem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84290"/>
            <a:ext cx="6477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Filtro inicial de intenções.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3700" y="1762125"/>
            <a:ext cx="54483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Algoritmo NLU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2114550"/>
            <a:ext cx="5448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Classificação via TF-IDF.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3152775"/>
            <a:ext cx="54483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Aprovação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3505200"/>
            <a:ext cx="5448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Confiança superior a 60%.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4543425"/>
            <a:ext cx="54483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991B1B"/>
                </a:solidFill>
                <a:latin typeface="Inter"/>
              </a:rPr>
              <a:t>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4895850"/>
            <a:ext cx="5448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91B1B"/>
                </a:solidFill>
                <a:latin typeface="Inter"/>
              </a:rPr>
              <a:t>Gatilho de segurança acionado.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5112"/>
            <a:ext cx="53340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05112"/>
            <a:ext cx="53340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262312"/>
            <a:ext cx="47625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3262312"/>
            <a:ext cx="333375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Inter"/>
              </a:rPr>
              <a:t>FASE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14400"/>
            <a:ext cx="115824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Extração e Persistência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871912"/>
            <a:ext cx="5800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Extrator Regex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348162"/>
            <a:ext cx="5524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Identificação de massa de dados.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691062"/>
            <a:ext cx="5524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Captura de datas específicas.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871912"/>
            <a:ext cx="5486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SQLite3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4348162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Armazenamento local rápido.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4691062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Persistência estruturada.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62" y="2886075"/>
            <a:ext cx="40005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98281" y="2290762"/>
            <a:ext cx="1595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0B981"/>
                </a:solidFill>
                <a:latin typeface="Inter"/>
              </a:rPr>
              <a:t>FASE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7421" y="3862387"/>
            <a:ext cx="39171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Cálculo de distância métrica.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2203" y="4291012"/>
            <a:ext cx="36075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Notificação final de coleta.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82748" y="2747962"/>
            <a:ext cx="6975871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Inter"/>
              </a:rPr>
              <a:t>Matchmaker KNN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7132" y="2747962"/>
            <a:ext cx="5494734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10B981"/>
                </a:solidFill>
                <a:latin typeface="Inter"/>
              </a:rPr>
              <a:t>Ticket Gerado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